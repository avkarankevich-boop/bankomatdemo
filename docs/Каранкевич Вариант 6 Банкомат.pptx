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4" r:id="rId9"/>
    <p:sldId id="265" r:id="rId10"/>
    <p:sldId id="266" r:id="rId11"/>
    <p:sldId id="267" r:id="rId12"/>
    <p:sldId id="261" r:id="rId13"/>
    <p:sldId id="262" r:id="rId14"/>
    <p:sldId id="263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2" d="100"/>
          <a:sy n="102" d="100"/>
        </p:scale>
        <p:origin x="87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Здравствуйте. Меня зовут [ФИО], группа [___]. Моя тема — банкомат, вариант 6. Я реализовал консольное приложение на C#, в котором поведение банкомата построено на двух паттернах проектирования: State (состояние) и Chain of Responsibility (цепочка обязанностей). Сейчас коротко расскажу, какую задачу решал, как устроено решение и покажу работу.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Задача: смоделировать банкомат, который выдаёт наличные. У него пять состояний: ожидание карты, карта вставлена, ввод PIN, выдача наличных и блокировка. Одни и те же кнопки — цифры, «Ввод», «Отмена» — работают по-разному в зависимости от состояния: например, цифры в режиме ввода PIN накапливают PIN, а в режиме выдачи — сумму, а в блокировке игнорируются. Вторая часть задачи — выдать сумму купюрами 100, 50, 20, 10 и 5, начиная с крупных. Ограничения: запас купюр конечен, на PIN даётся три попытки, и если сумму нельзя набрать, купюры не списываются. Технически: C# на .NET 6, код разбит на классы и папки, Main только запускает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Здесь архитектура и диаграмма классов. Слева — State: класс Atm — это контекст, он хранит текущее состояние через интерфейс IAtmState и просто передаёт ему все действия. Пять классов-состояний наследуются от общего базового класса AtmState, который по умолчанию сообщает, что действие недопустимо. Справа — Chain of Responsibility: абстрактный BanknoteHandler знает свой номинал, остаток купюр и ссылку на следующее звено; от него наследуются пять обработчиков по номиналам. CashDispenser собирает цепочку от самого крупного номинала. Банкомат также использует Bank для остатков по счетам и Card с PIN-кодом.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Первый ключевой фрагмент — состояние «ввод PIN». Метод PressEnter сравнивает введённый PIN с PIN карты. Если верно — банкомат переходит в состояние выдачи. Если нет — увеличивается счётчик ошибок, и после третьей ошибки банкомат переходит в состояние блокировки. Обратите внимание: контекст Atm не содержит ни одного switch или if по состоянию — метод PressEnter просто вызывает _state.PressEnter(). Чтобы добавить новое состояние, достаточно написать новый класс.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Второй фрагмент — звено цепочки. Метод Handle берёт столько купюр своего номинала, сколько нужно и сколько есть в кассете, уменьшает остаток суммы и, если что-то осталось, передаёт запрос следующему звену. Цепочка собирается в одном месте: сто, пятьдесят, двадцать, десять, пять. Важная деталь: Handle только считает, а списание купюр делает отдельный метод Commit — и только если вся сумма набрана. Поэтому при невозможной сумме запасы не портятся.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Начну с обоснования первого паттерна. Поведение банкомата полностью зависит от его состояния: одна и та же кнопка «Ввод» в разных режимах делает разное. Без паттерна это превращается в switch по состоянию внутри каждого метода: у нас пять состояний и четыре действия — это двадцать веток в одном классе, и при любом изменении надо править их все. Слева такой код, справа — как это выглядит с паттерном: пять маленьких классов, каждый знает только своё поведение, а контекст Atm не содержит ни одного условия. Ниже причины выбора. Первое — задача прямо соответствует паттерну. Второе — новое состояние, например «обслуживание», добавляется новым классом без правки остальных, это принцип открытости-закрытости. Третье — недопустимые действия обрабатывает базовый класс по умолчанию, поэтому нельзя забыть ветку. Четвёртое — переходы явные и видны в логе. Пятое — состояние хранит свои данные, например введённый PIN. Цена решения — больше классов.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Второй паттерн — цепочка обязанностей. Задача — выдать сумму купюрами, начиная с крупных. Без паттерна получается один метод с повторяющимися блоками: если сумма больше сотни — берём сотни, потом то же самое для пятидесяти и так далее. Чтобы добавить номинал или поменять порядок, нужно править этот метод. С цепочкой каждое звено отвечает за один номинал и знает только про следующее: берёт, сколько может, остаток передаёт дальше. Порядок задаётся в одном месте — при сборке цепочки. У каждого звена свой запас купюр, поэтому пустая кассета просто передаёт запрос дальше. Отдельно отмечу решение с двумя фазами: Handle только считает, Commit списывает — поэтому невозможная сумма не портит запасы. Цена — жадный алгоритм: он не всегда найдёт набор, который существует.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Хорошее обоснование — это не только «почему выбрали», но и «почему не выбрали другое». Для состояний можно было взять перечисление и switch — но оно разрастается и нарушает принцип открытости-закрытости. Можно взять набор булевых флагов вроде «карта вставлена» и «заблокирован» — но тогда возможны недопустимые комбинации, например одновременно заблокирован и выдаёт наличные. Для выдачи купюр честно скажу: простой цикл по списку номиналов тоже сработал бы и был бы короче. Цепочку я выбрал, потому что она прямо предложена в задании, даёт расширяемость и разделяет ответственность по номиналам; для реальной системы без требований расширяемости цикл был бы допустимым выбором. Strategy не подошёл, потому что нам нужна не подмена алгоритма, а последовательная передача остатка суммы.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Последнее обоснование — принципы проектирования. Принцип единственной ответственности: каждое состояние и каждое звено цепочки решают одну задачу. Открытости-закрытости: новое состояние или номинал добавляются новым классом, без правки существующих. Подстановки Лисков: любое состояние можно подставить вместо другого через общий интерфейс, контекст этого не замечает. Инверсии зависимостей: Atm зависит от интерфейса IAtmState, а не от конкретных состояний. Кроме принципов, есть и практические выгоды: каждый класс можно тестировать отдельно, например проверить блокировку после трёх неверных PIN, а код читается проще, потому что каждый файл короткий и про одно.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Демонстрация, сценарий первый: вставляем карту, нажимаем «Ввод» для выбора операции, вводим PIN 1234 — состояние меняется на «выдача наличных». Вводим сумму 380. Запрос идёт по цепочке: сотенных берём три, остаётся 80; пятидесятых одну, остаётся 30; двадцатых одну, остаётся 10; десятых одну — остаток ноль. Выдано 3×100, 1×50, 1×20, 1×10. Баланс уменьшился с 1000 до 620, карта возвращена, банкомат снова ждёт карту.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Сценарий третий — неверный PIN. Три раза подряд вводим неправильный PIN, после третьей ошибки банкомат переходит в состояние блокировки и изымает карту. Дальше нажатие клавиш и вставка новой карты не приводят ни к чему — банкомат сообщает, что он заблокирован. Это наглядно показывает, что один и тот же вызов обрабатывается по-разному в разных состояниях. Есть и второй сценарий — сумма 33 не набирается без пятёрок, банкомат сообщает об этом и ничего не списывает; затем выдаётся корректная сумма 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Выводы. State убрал громоздкие условия по режиму банкомата — каждое поведение лежит в своём классе, новое состояние добавляется без правки старых. Chain of Responsibility разделил выдачу по номиналам: новый номинал — это новое звено цепочки. Без паттернов получился бы один большой класс с условиями «состояние × кнопка» и зашитым алгоритмом размена. Компромиссы: стало больше классов и файлов, а жадный алгоритм цепочки не всегда находит набор купюр, даже если он существует (при дефиците крупных купюр).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/>
            </a:pPr>
            <a:r>
              <a:rPr b="1">
                <a:solidFill>
                  <a:srgbClr val="FFFFFF"/>
                </a:solidFill>
              </a:rPr>
              <a:t>Банкомат: паттерны State и Chain of Responsibility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159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/>
            </a:pPr>
            <a:r>
              <a:rPr dirty="0" err="1">
                <a:solidFill>
                  <a:srgbClr val="C8D2E6"/>
                </a:solidFill>
              </a:rPr>
              <a:t>Вариант</a:t>
            </a:r>
            <a:r>
              <a:rPr dirty="0">
                <a:solidFill>
                  <a:srgbClr val="C8D2E6"/>
                </a:solidFill>
              </a:rPr>
              <a:t> 6</a:t>
            </a:r>
            <a:endParaRPr dirty="0">
              <a:solidFill>
                <a:srgbClr val="C8D2E6"/>
              </a:solidFill>
            </a:endParaRPr>
          </a:p>
          <a:p>
            <a:pPr>
              <a:spcAft>
                <a:spcPts val="600"/>
              </a:spcAft>
              <a:defRPr sz="2200"/>
            </a:pPr>
            <a:r>
              <a:rPr dirty="0">
                <a:solidFill>
                  <a:srgbClr val="C8D2E6"/>
                </a:solidFill>
              </a:rPr>
              <a:t>ФИО: </a:t>
            </a:r>
            <a:r>
              <a:rPr lang="ru-RU" dirty="0">
                <a:solidFill>
                  <a:srgbClr val="C8D2E6"/>
                </a:solidFill>
              </a:rPr>
              <a:t>Каранкевич Александр Владимирович</a:t>
            </a:r>
            <a:r>
              <a:rPr dirty="0">
                <a:solidFill>
                  <a:srgbClr val="C8D2E6"/>
                </a:solidFill>
              </a:rPr>
              <a:t>   </a:t>
            </a:r>
            <a:r>
              <a:rPr dirty="0" err="1">
                <a:solidFill>
                  <a:srgbClr val="C8D2E6"/>
                </a:solidFill>
              </a:rPr>
              <a:t>Группа</a:t>
            </a:r>
            <a:r>
              <a:rPr dirty="0">
                <a:solidFill>
                  <a:srgbClr val="C8D2E6"/>
                </a:solidFill>
              </a:rPr>
              <a:t>: </a:t>
            </a:r>
            <a:r>
              <a:rPr lang="ru-RU" dirty="0">
                <a:solidFill>
                  <a:srgbClr val="C8D2E6"/>
                </a:solidFill>
              </a:rPr>
              <a:t>24-СТ</a:t>
            </a:r>
            <a:endParaRPr dirty="0">
              <a:solidFill>
                <a:srgbClr val="C8D2E6"/>
              </a:solidFill>
            </a:endParaRPr>
          </a:p>
          <a:p>
            <a:pPr>
              <a:spcAft>
                <a:spcPts val="600"/>
              </a:spcAft>
              <a:defRPr sz="2200"/>
            </a:pPr>
            <a:r>
              <a:rPr dirty="0" err="1">
                <a:solidFill>
                  <a:srgbClr val="C8D2E6"/>
                </a:solidFill>
              </a:rPr>
              <a:t>Дисциплина</a:t>
            </a:r>
            <a:r>
              <a:rPr dirty="0">
                <a:solidFill>
                  <a:srgbClr val="C8D2E6"/>
                </a:solidFill>
              </a:rPr>
              <a:t>: </a:t>
            </a:r>
            <a:r>
              <a:rPr lang="ru-RU" dirty="0">
                <a:solidFill>
                  <a:srgbClr val="C8D2E6"/>
                </a:solidFill>
              </a:rPr>
              <a:t>Средства и технологии анализа и разработки информационных систем</a:t>
            </a:r>
            <a:endParaRPr lang="ru-RU" dirty="0">
              <a:solidFill>
                <a:srgbClr val="C8D2E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Постановка задачи и ограничения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Задача: консольная модель банкомата, выдающего наличные.</a:t>
            </a:r>
          </a:p>
          <a:p>
            <a:pPr>
              <a:spcAft>
                <a:spcPts val="600"/>
              </a:spcAft>
              <a:defRPr sz="2000"/>
            </a:pPr>
            <a:r>
              <a:t>• Состояния: ожидание карты, карта вставлена, ввод PIN, выдача наличных, блокировка.</a:t>
            </a:r>
          </a:p>
          <a:p>
            <a:pPr>
              <a:spcAft>
                <a:spcPts val="600"/>
              </a:spcAft>
              <a:defRPr sz="2000"/>
            </a:pPr>
            <a:r>
              <a:t>• Одни и те же действия клавиатуры (цифра, «Ввод», «Отмена») обрабатываются по-разному в зависимости от состояния.</a:t>
            </a:r>
          </a:p>
          <a:p>
            <a:pPr>
              <a:spcAft>
                <a:spcPts val="600"/>
              </a:spcAft>
              <a:defRPr sz="2000"/>
            </a:pPr>
            <a:r>
              <a:t>• Сумма выдаётся купюрами 100/50/20/10/5, начиная с крупных; запрос проходит по цепочке обработчиков.</a:t>
            </a:r>
          </a:p>
          <a:p>
            <a:pPr>
              <a:spcAft>
                <a:spcPts val="600"/>
              </a:spcAft>
              <a:defRPr sz="2000"/>
            </a:pPr>
            <a:r>
              <a:t>• Демо: карта → PIN → выдача суммы; показ купюр; неверный PIN → блокировка.</a:t>
            </a:r>
          </a:p>
          <a:p>
            <a:pPr>
              <a:spcAft>
                <a:spcPts val="600"/>
              </a:spcAft>
              <a:defRPr sz="2000"/>
            </a:pPr>
            <a:r>
              <a:t>Ограничения: C# (.NET 6+), консоль, вся логика в классах (Models, Patterns, Program), Main только запускает демо; ограниченный запас купюр; 3 попытки PIN; если сумма не набирается — купюры не списываются.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Архитектура и диаграмма классов</a:t>
            </a: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4" name="Picture 3" descr="class-diagra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8229600" cy="44515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1280160"/>
            <a:ext cx="3383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State: Atm (контекст) делегирует действия объекту-состоянию; состояние само переключает банкомат.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Chain of Responsibility: Note100 → Note50 → Note20 → Note10 → Note5; каждое звено берёт, что может, и передаёт остаток дальше.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Ключевой код: State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latin typeface="Consolas" panose="020B0609020204030204"/>
              </a:defRPr>
            </a:pPr>
            <a:r>
              <a:t>public class PinEntryState : AtmState {</a:t>
            </a:r>
          </a:p>
          <a:p>
            <a:pPr>
              <a:spcAft>
                <a:spcPts val="600"/>
              </a:spcAft>
              <a:defRPr sz="1800">
                <a:latin typeface="Consolas" panose="020B0609020204030204"/>
              </a:defRPr>
            </a:pPr>
            <a:r>
              <a:t>  public override void PressEnter() {</a:t>
            </a:r>
          </a:p>
          <a:p>
            <a:pPr>
              <a:spcAft>
                <a:spcPts val="600"/>
              </a:spcAft>
              <a:defRPr sz="1800">
                <a:latin typeface="Consolas" panose="020B0609020204030204"/>
              </a:defRPr>
            </a:pPr>
            <a:r>
              <a:t>    if (_entered == Atm.Card!.Pin) {</a:t>
            </a:r>
          </a:p>
          <a:p>
            <a:pPr>
              <a:spcAft>
                <a:spcPts val="600"/>
              </a:spcAft>
              <a:defRPr sz="1800">
                <a:latin typeface="Consolas" panose="020B0609020204030204"/>
              </a:defRPr>
            </a:pPr>
            <a:r>
              <a:t>      Atm.SetState(new DispensingState(Atm)); return; }</a:t>
            </a:r>
          </a:p>
          <a:p>
            <a:pPr>
              <a:spcAft>
                <a:spcPts val="600"/>
              </a:spcAft>
              <a:defRPr sz="1800">
                <a:latin typeface="Consolas" panose="020B0609020204030204"/>
              </a:defRPr>
            </a:pPr>
            <a:r>
              <a:t>    Atm.FailedAttempts++; _entered = "";</a:t>
            </a:r>
          </a:p>
          <a:p>
            <a:pPr>
              <a:spcAft>
                <a:spcPts val="600"/>
              </a:spcAft>
              <a:defRPr sz="1800">
                <a:latin typeface="Consolas" panose="020B0609020204030204"/>
              </a:defRPr>
            </a:pPr>
            <a:r>
              <a:t>    if (Atm.FailedAttempts &gt;= Atm.MaxAttempts)</a:t>
            </a:r>
          </a:p>
          <a:p>
            <a:pPr>
              <a:spcAft>
                <a:spcPts val="600"/>
              </a:spcAft>
              <a:defRPr sz="1800">
                <a:latin typeface="Consolas" panose="020B0609020204030204"/>
              </a:defRPr>
            </a:pPr>
            <a:r>
              <a:t>      Atm.SetState(new BlockedState(Atm));</a:t>
            </a:r>
          </a:p>
          <a:p>
            <a:pPr>
              <a:spcAft>
                <a:spcPts val="600"/>
              </a:spcAft>
              <a:defRPr sz="1800">
                <a:latin typeface="Consolas" panose="020B0609020204030204"/>
              </a:defRPr>
            </a:pPr>
            <a:r>
              <a:t>  }</a:t>
            </a:r>
          </a:p>
          <a:p>
            <a:pPr>
              <a:spcAft>
                <a:spcPts val="600"/>
              </a:spcAft>
              <a:defRPr sz="1800">
                <a:latin typeface="Consolas" panose="020B0609020204030204"/>
              </a:defRPr>
            </a:pPr>
            <a:r>
              <a:t>}</a:t>
            </a:r>
          </a:p>
          <a:p>
            <a:pPr>
              <a:spcAft>
                <a:spcPts val="600"/>
              </a:spcAft>
              <a:defRPr sz="1800">
                <a:latin typeface="Consolas" panose="020B0609020204030204"/>
              </a:defRPr>
            </a:pPr>
          </a:p>
          <a:p>
            <a:pPr>
              <a:spcAft>
                <a:spcPts val="600"/>
              </a:spcAft>
              <a:defRPr sz="1800">
                <a:latin typeface="Consolas" panose="020B0609020204030204"/>
              </a:defRPr>
            </a:pPr>
            <a:r>
              <a:t>// Контекст — без единого switch по состоянию:</a:t>
            </a:r>
          </a:p>
          <a:p>
            <a:pPr>
              <a:spcAft>
                <a:spcPts val="600"/>
              </a:spcAft>
              <a:defRPr sz="1800">
                <a:latin typeface="Consolas" panose="020B0609020204030204"/>
              </a:defRPr>
            </a:pPr>
            <a:r>
              <a:t>public void PressEnter() =&gt; _state.PressEnter();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Ключевой код: Chain of Responsibility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latin typeface="Consolas" panose="020B0609020204030204"/>
              </a:defRPr>
            </a:pPr>
            <a:r>
              <a:t>public void Handle(DispenseResult result) {</a:t>
            </a:r>
          </a:p>
          <a:p>
            <a:pPr>
              <a:spcAft>
                <a:spcPts val="600"/>
              </a:spcAft>
              <a:defRPr sz="1700">
                <a:latin typeface="Consolas" panose="020B0609020204030204"/>
              </a:defRPr>
            </a:pPr>
            <a:r>
              <a:t>  int count = Math.Min(result.Remaining / Denomination, Stock);</a:t>
            </a:r>
          </a:p>
          <a:p>
            <a:pPr>
              <a:spcAft>
                <a:spcPts val="600"/>
              </a:spcAft>
              <a:defRPr sz="1700">
                <a:latin typeface="Consolas" panose="020B0609020204030204"/>
              </a:defRPr>
            </a:pPr>
            <a:r>
              <a:t>  if (count &gt; 0) { result.Notes[Denomination] = count;</a:t>
            </a:r>
          </a:p>
          <a:p>
            <a:pPr>
              <a:spcAft>
                <a:spcPts val="600"/>
              </a:spcAft>
              <a:defRPr sz="1700">
                <a:latin typeface="Consolas" panose="020B0609020204030204"/>
              </a:defRPr>
            </a:pPr>
            <a:r>
              <a:t>                   result.Remaining -= count * Denomination; }</a:t>
            </a:r>
          </a:p>
          <a:p>
            <a:pPr>
              <a:spcAft>
                <a:spcPts val="600"/>
              </a:spcAft>
              <a:defRPr sz="1700">
                <a:latin typeface="Consolas" panose="020B0609020204030204"/>
              </a:defRPr>
            </a:pPr>
            <a:r>
              <a:t>  if (result.Remaining &gt; 0) _next?.Handle(result);</a:t>
            </a:r>
          </a:p>
          <a:p>
            <a:pPr>
              <a:spcAft>
                <a:spcPts val="600"/>
              </a:spcAft>
              <a:defRPr sz="1700">
                <a:latin typeface="Consolas" panose="020B0609020204030204"/>
              </a:defRPr>
            </a:pPr>
            <a:r>
              <a:t>}</a:t>
            </a:r>
          </a:p>
          <a:p>
            <a:pPr>
              <a:spcAft>
                <a:spcPts val="600"/>
              </a:spcAft>
              <a:defRPr sz="1700">
                <a:latin typeface="Consolas" panose="020B0609020204030204"/>
              </a:defRPr>
            </a:pPr>
          </a:p>
          <a:p>
            <a:pPr>
              <a:spcAft>
                <a:spcPts val="600"/>
              </a:spcAft>
              <a:defRPr sz="1700">
                <a:latin typeface="Consolas" panose="020B0609020204030204"/>
              </a:defRPr>
            </a:pPr>
            <a:r>
              <a:t>// сборка цепочки от крупного номинала к мелкому</a:t>
            </a:r>
          </a:p>
          <a:p>
            <a:pPr>
              <a:spcAft>
                <a:spcPts val="600"/>
              </a:spcAft>
              <a:defRPr sz="1700">
                <a:latin typeface="Consolas" panose="020B0609020204030204"/>
              </a:defRPr>
            </a:pPr>
            <a:r>
              <a:t>_first = new Note100Handler(n100);</a:t>
            </a:r>
          </a:p>
          <a:p>
            <a:pPr>
              <a:spcAft>
                <a:spcPts val="600"/>
              </a:spcAft>
              <a:defRPr sz="1700">
                <a:latin typeface="Consolas" panose="020B0609020204030204"/>
              </a:defRPr>
            </a:pPr>
            <a:r>
              <a:t>_first.SetNext(new Note50Handler(n50)).SetNext(new Note20Handler(n20))</a:t>
            </a:r>
          </a:p>
          <a:p>
            <a:pPr>
              <a:spcAft>
                <a:spcPts val="600"/>
              </a:spcAft>
              <a:defRPr sz="1700">
                <a:latin typeface="Consolas" panose="020B0609020204030204"/>
              </a:defRPr>
            </a:pPr>
            <a:r>
              <a:t>      .SetNext(new Note10Handler(n10)).SetNext(new Note5Handler(n5));</a:t>
            </a:r>
          </a:p>
          <a:p>
            <a:pPr>
              <a:spcAft>
                <a:spcPts val="600"/>
              </a:spcAft>
              <a:defRPr sz="1700">
                <a:latin typeface="Consolas" panose="020B0609020204030204"/>
              </a:defRPr>
            </a:pPr>
          </a:p>
          <a:p>
            <a:pPr>
              <a:spcAft>
                <a:spcPts val="600"/>
              </a:spcAft>
              <a:defRPr sz="1700">
                <a:latin typeface="Consolas" panose="020B0609020204030204"/>
              </a:defRPr>
            </a:pPr>
            <a:r>
              <a:t>// Handle только считает; Commit списывает купюры, если сумма набрана целиком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Почему именно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669280" cy="28346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19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// БЕЗ паттерна: switch в каждом методе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void PressEnter() {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  switch (_state) {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    case Idle: ...       break;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    case CardInserted: ... break;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    case PinEntry: ...   break;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    case Dispensing: ... break;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    case Blocked: ...    break;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}  // × 4 действия = 20 веток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577840" cy="28346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19"/>
            <a:ext cx="521207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// С паттерном State: условий нет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public void PressEnter() =&gt; _state.PressEnter();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// каждое состояние — свой класс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class PinEntryState  : AtmState { ... }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class BlockedState   : AtmState { ... }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// новое состояние = новый класс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297680"/>
            <a:ext cx="2743200" cy="2286000"/>
          </a:xfrm>
          <a:prstGeom prst="rect">
            <a:avLst/>
          </a:prstGeom>
          <a:solidFill>
            <a:srgbClr val="F4F7FB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297680"/>
            <a:ext cx="2743200" cy="54864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3708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Задача =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8348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/>
            </a:pPr>
            <a:r>
              <a:t>Поведение зависит от внутреннего состояния — классический случай.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4297680"/>
            <a:ext cx="2743200" cy="2286000"/>
          </a:xfrm>
          <a:prstGeom prst="rect">
            <a:avLst/>
          </a:prstGeom>
          <a:solidFill>
            <a:srgbClr val="F4F7FB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4297680"/>
            <a:ext cx="2743200" cy="548640"/>
          </a:xfrm>
          <a:prstGeom prst="rect">
            <a:avLst/>
          </a:prstGeom>
          <a:solidFill>
            <a:srgbClr val="55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43708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Открыт к расширению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498348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/>
            </a:pPr>
            <a:r>
              <a:t>Новое состояние — новый класс, старые не правим (OCP).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297680"/>
            <a:ext cx="2743200" cy="2286000"/>
          </a:xfrm>
          <a:prstGeom prst="rect">
            <a:avLst/>
          </a:prstGeom>
          <a:solidFill>
            <a:srgbClr val="F4F7FB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297680"/>
            <a:ext cx="2743200" cy="54864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3708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Нет забытых веток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98348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/>
            </a:pPr>
            <a:r>
              <a:t>AtmState по умолчанию отвечает «действие недоступно».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4297680"/>
            <a:ext cx="2743200" cy="2286000"/>
          </a:xfrm>
          <a:prstGeom prst="rect">
            <a:avLst/>
          </a:prstGeom>
          <a:solidFill>
            <a:srgbClr val="F4F7FB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4297680"/>
            <a:ext cx="2743200" cy="548640"/>
          </a:xfrm>
          <a:prstGeom prst="rect">
            <a:avLst/>
          </a:prstGeom>
          <a:solidFill>
            <a:srgbClr val="55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37083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Прозрачность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983480"/>
            <a:ext cx="2468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/>
            </a:pPr>
            <a:r>
              <a:t>Переходы явные: SetState выводится в лог.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Почему именно Chain of Responsibility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669280" cy="31089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19"/>
            <a:ext cx="5303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// БЕЗ паттерна: повторяющиеся блоки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if (sum &gt;= 100) { n = sum / 100; sum -= n*100; }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if (sum &gt;= 50)  { n = sum / 50;  sum -= n*50;  }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if (sum &gt;= 20)  { n = sum / 20;  sum -= n*20;  }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if (sum &gt;= 10)  { ... }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if (sum &gt;= 5)   { ... }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// +номинал / другой порядок = правка метода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// запасы кассет — отдельная логика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577840" cy="31089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19"/>
            <a:ext cx="521207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// С цепочкой: звено = один номинал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_first = new Note100Handler(n100);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_first.SetNext(new Note50Handler(n50))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      .SetNext(new Note20Handler(n20));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// новый номинал = новое звено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// Handle считает, Commit списывает:</a:t>
            </a:r>
          </a:p>
          <a:p>
            <a:pPr>
              <a:spcAft>
                <a:spcPts val="0"/>
              </a:spcAft>
              <a:defRPr sz="1300" b="0">
                <a:solidFill>
                  <a:srgbClr val="DDDDDD"/>
                </a:solidFill>
                <a:latin typeface="Consolas" panose="020B0609020204030204"/>
              </a:defRPr>
            </a:pPr>
            <a:r>
              <a:t>// нельзя набрать сумму — запас цел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572000"/>
            <a:ext cx="2743200" cy="2103120"/>
          </a:xfrm>
          <a:prstGeom prst="rect">
            <a:avLst/>
          </a:prstGeom>
          <a:solidFill>
            <a:srgbClr val="F4F7FB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4572000"/>
            <a:ext cx="2743200" cy="54864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6451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Номинал = звено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257800"/>
            <a:ext cx="246888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/>
            </a:pPr>
            <a:r>
              <a:t>Каждый класс решает одну задачу (SRP).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4572000"/>
            <a:ext cx="2743200" cy="2103120"/>
          </a:xfrm>
          <a:prstGeom prst="rect">
            <a:avLst/>
          </a:prstGeom>
          <a:solidFill>
            <a:srgbClr val="F4F7FB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4572000"/>
            <a:ext cx="2743200" cy="548640"/>
          </a:xfrm>
          <a:prstGeom prst="rect">
            <a:avLst/>
          </a:prstGeom>
          <a:solidFill>
            <a:srgbClr val="55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46451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Порядок задан раз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5257800"/>
            <a:ext cx="246888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/>
            </a:pPr>
            <a:r>
              <a:t>Сборка цепочки; меняем без правки звеньев.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572000"/>
            <a:ext cx="2743200" cy="2103120"/>
          </a:xfrm>
          <a:prstGeom prst="rect">
            <a:avLst/>
          </a:prstGeom>
          <a:solidFill>
            <a:srgbClr val="F4F7FB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572000"/>
            <a:ext cx="2743200" cy="54864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6451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Свой запас у звена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257800"/>
            <a:ext cx="246888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/>
            </a:pPr>
            <a:r>
              <a:t>Пустая кассета просто передаёт запрос дальше.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4572000"/>
            <a:ext cx="2743200" cy="2103120"/>
          </a:xfrm>
          <a:prstGeom prst="rect">
            <a:avLst/>
          </a:prstGeom>
          <a:solidFill>
            <a:srgbClr val="F4F7FB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4572000"/>
            <a:ext cx="2743200" cy="548640"/>
          </a:xfrm>
          <a:prstGeom prst="rect">
            <a:avLst/>
          </a:prstGeom>
          <a:solidFill>
            <a:srgbClr val="55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6451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Цена решения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257800"/>
            <a:ext cx="246888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/>
            </a:pPr>
            <a:r>
              <a:t>Жадный алгоритм; отладка по цепочке сложнее.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Альтернативы: почему не они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32588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  <a:gridCol w="3931920"/>
                <a:gridCol w="2103120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Задача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Альтернатива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Почему не она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Выбор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Состояния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enum + switch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Условия в каждом методе, правка при каждом новом состоянии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Состояния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Булевы флаги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Недопустимые комбинации (заблокирован и выдаёт)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Выдача купюр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Цикл по списку номиналов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Проще, но логика и запасы в одном месте; хуже расширяется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Chain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Выдача купюр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Нужна не подмена алгоритма, а передача остатка по шагам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3035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55F6D"/>
                </a:solidFill>
              </a:defRPr>
            </a:pPr>
            <a:r>
              <a:t>Честная оговорка: для маленькой программы без требований расширяемости цикл по номиналам был бы проще. Цепочка выбрана из-за расширяемости и разделения ответственности.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</a:defRPr>
            </a:pPr>
            <a:r>
              <a:t>Какие принципы и выгоды дают паттерны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2468880"/>
          </a:xfrm>
          <a:prstGeom prst="rect">
            <a:avLst/>
          </a:prstGeom>
          <a:solidFill>
            <a:srgbClr val="F4F7FB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54864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S — ответственность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/>
            </a:pPr>
            <a:r>
              <a:t>Состояние или звено цепочки решает одну задачу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657600" cy="2468880"/>
          </a:xfrm>
          <a:prstGeom prst="rect">
            <a:avLst/>
          </a:prstGeom>
          <a:solidFill>
            <a:srgbClr val="F4F7FB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657600" cy="54864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444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O — расширяемость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574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/>
            </a:pPr>
            <a:r>
              <a:t>Новое состояние или номинал — новый класс без правки старых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657600" cy="2468880"/>
          </a:xfrm>
          <a:prstGeom prst="rect">
            <a:avLst/>
          </a:prstGeom>
          <a:solidFill>
            <a:srgbClr val="F4F7FB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3657600" cy="54864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4447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L — подстановка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0574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/>
            </a:pPr>
            <a:r>
              <a:t>Любое состояние подставляется вместо другого через IAtmState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3657600" cy="2468880"/>
          </a:xfrm>
          <a:prstGeom prst="rect">
            <a:avLst/>
          </a:prstGeom>
          <a:solidFill>
            <a:srgbClr val="F4F7FB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3657600" cy="54864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965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D — инверсия зависимостей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091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/>
            </a:pPr>
            <a:r>
              <a:t>Atm зависит от интерфейса IAtmState, а не от конкретных классов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4023360"/>
            <a:ext cx="3657600" cy="2468880"/>
          </a:xfrm>
          <a:prstGeom prst="rect">
            <a:avLst/>
          </a:prstGeom>
          <a:solidFill>
            <a:srgbClr val="F4F7FB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4023360"/>
            <a:ext cx="3657600" cy="548640"/>
          </a:xfrm>
          <a:prstGeom prst="rect">
            <a:avLst/>
          </a:prstGeom>
          <a:solidFill>
            <a:srgbClr val="55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0965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t>Тестируемость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7091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/>
            </a:pPr>
            <a:r>
              <a:t>Каждое состояние и звено проверяются отдельно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4023360"/>
            <a:ext cx="3657600" cy="2468880"/>
          </a:xfrm>
          <a:prstGeom prst="rect">
            <a:avLst/>
          </a:prstGeom>
          <a:solidFill>
            <a:srgbClr val="F4F7FB"/>
          </a:solidFill>
          <a:ln>
            <a:solidFill>
              <a:srgbClr val="D5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023360"/>
            <a:ext cx="3657600" cy="548640"/>
          </a:xfrm>
          <a:prstGeom prst="rect">
            <a:avLst/>
          </a:prstGeom>
          <a:solidFill>
            <a:srgbClr val="555F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40965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</a:defRPr>
            </a:pPr>
            <a:r>
              <a:rPr dirty="0" err="1"/>
              <a:t>Читаемость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183880" y="470916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/>
            </a:pPr>
            <a:r>
              <a:t>Короткие классы, каждый про одно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Демо 1: успешная выдача 380</a:t>
            </a: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4" name="Picture 3" descr="screen1_sho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35584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37160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Карта → «Ввод» → PIN 1234 → сумма 380.</a:t>
            </a:r>
          </a:p>
          <a:p>
            <a:pPr>
              <a:spcAft>
                <a:spcPts val="600"/>
              </a:spcAft>
              <a:defRPr sz="1700"/>
            </a:pPr>
            <a:r>
              <a:t>Выдано: 3×100, 1×50, 1×20, 1×10.</a:t>
            </a:r>
          </a:p>
          <a:p>
            <a:pPr>
              <a:spcAft>
                <a:spcPts val="600"/>
              </a:spcAft>
              <a:defRPr sz="1700"/>
            </a:pPr>
            <a:r>
              <a:t>Остаток на счёте 620.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Демо 2: неверный PIN → блокировка</a:t>
            </a:r>
            <a:endParaRPr sz="3000" b="1">
              <a:solidFill>
                <a:srgbClr val="FFFFFF"/>
              </a:solidFill>
            </a:endParaRPr>
          </a:p>
        </p:txBody>
      </p:sp>
      <p:pic>
        <p:nvPicPr>
          <p:cNvPr id="4" name="Picture 3" descr="screen3_sho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772400" cy="4853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37160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/>
            </a:pPr>
            <a:r>
              <a:t>Три неверных PIN подряд — состояние «блокировка», карта изъята.</a:t>
            </a:r>
          </a:p>
          <a:p>
            <a:pPr>
              <a:spcAft>
                <a:spcPts val="600"/>
              </a:spcAft>
              <a:defRPr sz="1700"/>
            </a:pPr>
            <a:r>
              <a:t>В блокировке клавиатура и приём карт игнорируются.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Выводы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/>
            </a:pPr>
            <a:r>
              <a:t>Решённые проблемы:</a:t>
            </a:r>
          </a:p>
          <a:p>
            <a:pPr>
              <a:spcAft>
                <a:spcPts val="600"/>
              </a:spcAft>
              <a:defRPr sz="2000"/>
            </a:pPr>
            <a:r>
              <a:t>• State убрал громоздкие if/switch по режиму банкомата; новое состояние = новый класс.</a:t>
            </a:r>
          </a:p>
          <a:p>
            <a:pPr>
              <a:spcAft>
                <a:spcPts val="600"/>
              </a:spcAft>
              <a:defRPr sz="2000"/>
            </a:pPr>
            <a:r>
              <a:t>• Chain of Responsibility разделил логику по номиналам; новый номинал добавляется звеном без правки остальных.</a:t>
            </a:r>
          </a:p>
          <a:p>
            <a:pPr>
              <a:spcAft>
                <a:spcPts val="600"/>
              </a:spcAft>
              <a:defRPr sz="2000"/>
            </a:pPr>
            <a:r>
              <a:t>Без паттернов: один класс с множеством условий по (состояние × кнопка) и жёстко зашитым алгоритмом размена.</a:t>
            </a:r>
          </a:p>
          <a:p>
            <a:pPr>
              <a:spcAft>
                <a:spcPts val="600"/>
              </a:spcAft>
              <a:defRPr sz="2000"/>
            </a:pPr>
            <a:r>
              <a:t>Компромиссы: больше классов и файлов; состояния создаются заново при переходах; цепочка проходит жадным алгоритмом и не всегда находит набор, когда он существует (напр. при дефиците купюр).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5519</Words>
  <Application>WPS Presentation</Application>
  <PresentationFormat>Произвольный</PresentationFormat>
  <Paragraphs>214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Consolas</vt:lpstr>
      <vt:lpstr>Calibri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3</cp:revision>
  <dcterms:created xsi:type="dcterms:W3CDTF">2013-01-27T09:14:00Z</dcterms:created>
  <dcterms:modified xsi:type="dcterms:W3CDTF">2026-10-23T07:33:39Z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1049-12.1.0.29162</vt:lpwstr>
  </property>
  <property fmtid="{D5CDD505-2E9C-101B-9397-08002B2CF9AE}" pid="3" name="ICV">
    <vt:lpwstr>34B9E0F054014AFBAC5DCA0E105AA8E0_12</vt:lpwstr>
  </property>
</Properties>
</file>